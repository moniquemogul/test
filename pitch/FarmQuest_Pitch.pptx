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C1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28716" y="1051560"/>
            <a:ext cx="731520" cy="731520"/>
          </a:xfrm>
          <a:prstGeom prst="ellipse">
            <a:avLst/>
          </a:prstGeom>
          <a:solidFill>
            <a:srgbClr val="F5B942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04281" y="1227125"/>
            <a:ext cx="380390" cy="38039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1965960"/>
            <a:ext cx="94457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spc="400" kern="0" dirty="0">
                <a:solidFill>
                  <a:srgbClr val="F5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FARM</a:t>
            </a:r>
            <a:pPr algn="ctr" indent="0" marL="0">
              <a:buNone/>
            </a:pPr>
            <a:r>
              <a:rPr lang="en-US" sz="5600" b="1" spc="400" kern="0" dirty="0">
                <a:solidFill>
                  <a:srgbClr val="4CC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</a:t>
            </a:r>
            <a:endParaRPr lang="en-US" sz="5600" dirty="0"/>
          </a:p>
        </p:txBody>
      </p:sp>
      <p:sp>
        <p:nvSpPr>
          <p:cNvPr id="5" name="Text 2"/>
          <p:cNvSpPr/>
          <p:nvPr/>
        </p:nvSpPr>
        <p:spPr>
          <a:xfrm>
            <a:off x="1371600" y="297180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EEF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story starts in class. It unlocks at the farm.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2011680" y="3520440"/>
            <a:ext cx="81655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choose-your-own-adventure learning game for grades 6–12 that turns real farm visits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food-systems literacy — starting with food insecurity.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2468880" y="4709160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162C20"/>
          </a:solidFill>
          <a:ln w="12700">
            <a:solidFill>
              <a:srgbClr val="24402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468880" y="470916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8D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Teacher-approved stories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983480" y="4709160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162C20"/>
          </a:solidFill>
          <a:ln w="12700">
            <a:solidFill>
              <a:srgbClr val="24402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983480" y="470916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8D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student data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7406640" y="4709160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162C20"/>
          </a:solidFill>
          <a:ln w="12700">
            <a:solidFill>
              <a:srgbClr val="24402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406640" y="470916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8D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offline at the farm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1371600" y="5989320"/>
            <a:ext cx="9445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pitch · 2026–27 school year · Monique Mavour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Idea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59536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story arc across the classroom, the farm, and back.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5394960" cy="2697480"/>
          </a:xfrm>
          <a:prstGeom prst="roundRect">
            <a:avLst>
              <a:gd name="adj" fmla="val 3051"/>
            </a:avLst>
          </a:prstGeom>
          <a:solidFill>
            <a:srgbClr val="162C20"/>
          </a:solidFill>
          <a:ln w="12700">
            <a:solidFill>
              <a:srgbClr val="24402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51790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60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68680" y="1810512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5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14.1M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2743200" y="1847088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8D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children live in food-insecure households — about 6 in every class of 30. (USDA 2024, the final federal survey.)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68680" y="2697480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EF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Yet food insecurity is taught as a statistic and toured as a walk-through — abstract to students who don't live it, quietly stigmatizing to those who do. Teachers can't fix it without custom materials they have no time to build.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4206240"/>
            <a:ext cx="5394960" cy="1810512"/>
          </a:xfrm>
          <a:prstGeom prst="roundRect">
            <a:avLst>
              <a:gd name="adj" fmla="val 4545"/>
            </a:avLst>
          </a:prstGeom>
          <a:solidFill>
            <a:srgbClr val="162C20"/>
          </a:solidFill>
          <a:ln w="12700">
            <a:solidFill>
              <a:srgbClr val="24402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43891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CC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68680" y="4681728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EF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branching story game — AI-drafted per farm and class, teacher-approved before any student plays. Chapters unlock via QR codes at real farm stations, and Grow-to-Give continues the story into a class garden that feeds food-insecure neighbors.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263640" y="1325880"/>
            <a:ext cx="5394960" cy="1060704"/>
          </a:xfrm>
          <a:prstGeom prst="roundRect">
            <a:avLst>
              <a:gd name="adj" fmla="val 7759"/>
            </a:avLst>
          </a:prstGeom>
          <a:solidFill>
            <a:srgbClr val="162C20"/>
          </a:solidFill>
          <a:ln w="12700">
            <a:solidFill>
              <a:srgbClr val="24402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92240" y="1618488"/>
            <a:ext cx="457200" cy="457200"/>
          </a:xfrm>
          <a:prstGeom prst="ellipse">
            <a:avLst/>
          </a:prstGeom>
          <a:solidFill>
            <a:srgbClr val="0C1A12"/>
          </a:solidFill>
          <a:ln w="19050">
            <a:solidFill>
              <a:srgbClr val="F5B94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0" y="1618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132320" y="143560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D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class — the setup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132320" y="1728216"/>
            <a:ext cx="4389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meet the mystery on Chromebooks; farm chapters quietly cache to their phones.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63640" y="2514600"/>
            <a:ext cx="5394960" cy="1060704"/>
          </a:xfrm>
          <a:prstGeom prst="roundRect">
            <a:avLst>
              <a:gd name="adj" fmla="val 7759"/>
            </a:avLst>
          </a:prstGeom>
          <a:solidFill>
            <a:srgbClr val="162C20"/>
          </a:solidFill>
          <a:ln w="12700">
            <a:solidFill>
              <a:srgbClr val="24402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92240" y="2807208"/>
            <a:ext cx="457200" cy="457200"/>
          </a:xfrm>
          <a:prstGeom prst="ellipse">
            <a:avLst/>
          </a:prstGeom>
          <a:solidFill>
            <a:srgbClr val="0C1A12"/>
          </a:solidFill>
          <a:ln w="19050">
            <a:solidFill>
              <a:srgbClr val="F5B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92240" y="2807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132320" y="262432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D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the farm — the expedition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132320" y="2916936"/>
            <a:ext cx="4389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scans at real farm stations unlock chapters — the clues live in the physical world.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63640" y="3703320"/>
            <a:ext cx="5394960" cy="1060704"/>
          </a:xfrm>
          <a:prstGeom prst="roundRect">
            <a:avLst>
              <a:gd name="adj" fmla="val 7759"/>
            </a:avLst>
          </a:prstGeom>
          <a:solidFill>
            <a:srgbClr val="162C20"/>
          </a:solidFill>
          <a:ln w="12700">
            <a:solidFill>
              <a:srgbClr val="24402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92240" y="3995928"/>
            <a:ext cx="457200" cy="457200"/>
          </a:xfrm>
          <a:prstGeom prst="ellipse">
            <a:avLst/>
          </a:prstGeom>
          <a:solidFill>
            <a:srgbClr val="0C1A12"/>
          </a:solidFill>
          <a:ln w="19050">
            <a:solidFill>
              <a:srgbClr val="F5B94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92240" y="3995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132320" y="381304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D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 in class — the finale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132320" y="4105656"/>
            <a:ext cx="4389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group's ending reflects its choices; a reflection chapter ties it to the curriculum.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263640" y="4892040"/>
            <a:ext cx="5394960" cy="1060704"/>
          </a:xfrm>
          <a:prstGeom prst="roundRect">
            <a:avLst>
              <a:gd name="adj" fmla="val 7759"/>
            </a:avLst>
          </a:prstGeom>
          <a:solidFill>
            <a:srgbClr val="162C20"/>
          </a:solidFill>
          <a:ln w="12700">
            <a:solidFill>
              <a:srgbClr val="24402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63640" y="4892040"/>
            <a:ext cx="5394960" cy="1060704"/>
          </a:xfrm>
          <a:prstGeom prst="roundRect">
            <a:avLst>
              <a:gd name="adj" fmla="val 7759"/>
            </a:avLst>
          </a:prstGeom>
          <a:ln w="19050">
            <a:solidFill>
              <a:srgbClr val="4CC77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92240" y="5184648"/>
            <a:ext cx="457200" cy="457200"/>
          </a:xfrm>
          <a:prstGeom prst="ellipse">
            <a:avLst/>
          </a:prstGeom>
          <a:solidFill>
            <a:srgbClr val="0C1A12"/>
          </a:solidFill>
          <a:ln w="19050">
            <a:solidFill>
              <a:srgbClr val="4CC77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5184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CC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7132320" y="500176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CC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Grow-to-Give — the harvest (extension)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7132320" y="5294376"/>
            <a:ext cx="4389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Chapters unlock at planting, first sprouts &amp; harvest — ending in a real food-bank donation.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48640" y="617220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162C20"/>
          </a:solidFill>
          <a:ln w="12700">
            <a:solidFill>
              <a:srgbClr val="24402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48640" y="617220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8D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$2 per story pack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3154680" y="617220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162C20"/>
          </a:solidFill>
          <a:ln w="12700">
            <a:solidFill>
              <a:srgbClr val="24402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154680" y="617220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8D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$50 / month pilot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5760720" y="6172200"/>
            <a:ext cx="2743200" cy="384048"/>
          </a:xfrm>
          <a:prstGeom prst="roundRect">
            <a:avLst>
              <a:gd name="adj" fmla="val 50000"/>
            </a:avLst>
          </a:prstGeom>
          <a:solidFill>
            <a:srgbClr val="162C20"/>
          </a:solidFill>
          <a:ln w="12700">
            <a:solidFill>
              <a:srgbClr val="24402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760720" y="617220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8D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Groups of 2–4 · one phone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8732520" y="6172200"/>
            <a:ext cx="2926080" cy="384048"/>
          </a:xfrm>
          <a:prstGeom prst="roundRect">
            <a:avLst>
              <a:gd name="adj" fmla="val 50000"/>
            </a:avLst>
          </a:prstGeom>
          <a:solidFill>
            <a:srgbClr val="162C20"/>
          </a:solidFill>
          <a:ln w="12700">
            <a:solidFill>
              <a:srgbClr val="24402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732520" y="617220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8D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Museums &amp; nature centers next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Personas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59536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sides of the same trip — the teacher adopts, the city may pay.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2679192" cy="4572000"/>
          </a:xfrm>
          <a:prstGeom prst="roundRect">
            <a:avLst>
              <a:gd name="adj" fmla="val 3072"/>
            </a:avLst>
          </a:prstGeom>
          <a:solidFill>
            <a:srgbClr val="162C20"/>
          </a:solidFill>
          <a:ln w="12700">
            <a:solidFill>
              <a:srgbClr val="2440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45336" y="1691640"/>
            <a:ext cx="685800" cy="685800"/>
          </a:xfrm>
          <a:prstGeom prst="ellipse">
            <a:avLst/>
          </a:prstGeom>
          <a:solidFill>
            <a:srgbClr val="4CC776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9928" y="1856232"/>
            <a:ext cx="356616" cy="35661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2542032"/>
            <a:ext cx="23134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EF5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Maya · Student, gr. 7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731520" y="3017520"/>
            <a:ext cx="2313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50" kern="0" dirty="0">
                <a:solidFill>
                  <a:srgbClr val="4CC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user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77240" y="3383280"/>
            <a:ext cx="222199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her own phone; groans at anything babyish; loves games with choices and secrets.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77240" y="4892040"/>
            <a:ext cx="22219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F8D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“My group's ending was different from yours.”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410712" y="1371600"/>
            <a:ext cx="2679192" cy="4572000"/>
          </a:xfrm>
          <a:prstGeom prst="roundRect">
            <a:avLst>
              <a:gd name="adj" fmla="val 3072"/>
            </a:avLst>
          </a:prstGeom>
          <a:solidFill>
            <a:srgbClr val="162C20"/>
          </a:solidFill>
          <a:ln w="12700">
            <a:solidFill>
              <a:srgbClr val="24402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407408" y="1691640"/>
            <a:ext cx="685800" cy="685800"/>
          </a:xfrm>
          <a:prstGeom prst="ellipse">
            <a:avLst/>
          </a:prstGeom>
          <a:solidFill>
            <a:srgbClr val="F5B942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856232"/>
            <a:ext cx="356616" cy="35661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593592" y="2542032"/>
            <a:ext cx="23134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EF5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Mr. Alvarez · Teacher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3593592" y="3017520"/>
            <a:ext cx="2313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50" kern="0" dirty="0">
                <a:solidFill>
                  <a:srgbClr val="F5B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 / adopter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3639312" y="3383280"/>
            <a:ext cx="222199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Time-poor agriscience teacher; needs vetted, standards-relevant material in under 45 minutes of prep.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3639312" y="4892040"/>
            <a:ext cx="22219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F8D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read every branch before my students see a word.”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6272784" y="1371600"/>
            <a:ext cx="2679192" cy="4572000"/>
          </a:xfrm>
          <a:prstGeom prst="roundRect">
            <a:avLst>
              <a:gd name="adj" fmla="val 3072"/>
            </a:avLst>
          </a:prstGeom>
          <a:solidFill>
            <a:srgbClr val="162C20"/>
          </a:solidFill>
          <a:ln w="12700">
            <a:solidFill>
              <a:srgbClr val="24402F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7269480" y="1691640"/>
            <a:ext cx="685800" cy="685800"/>
          </a:xfrm>
          <a:prstGeom prst="ellipse">
            <a:avLst/>
          </a:prstGeom>
          <a:solidFill>
            <a:srgbClr val="4CC776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4072" y="1856232"/>
            <a:ext cx="356616" cy="356616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455664" y="2542032"/>
            <a:ext cx="23134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EF5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Denise · Farm owner</a:t>
            </a:r>
            <a:endParaRPr lang="en-US" sz="1350" dirty="0"/>
          </a:p>
        </p:txBody>
      </p:sp>
      <p:sp>
        <p:nvSpPr>
          <p:cNvPr id="22" name="Text 17"/>
          <p:cNvSpPr/>
          <p:nvPr/>
        </p:nvSpPr>
        <p:spPr>
          <a:xfrm>
            <a:off x="6455664" y="3017520"/>
            <a:ext cx="2313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50" kern="0" dirty="0">
                <a:solidFill>
                  <a:srgbClr val="4CC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partner</a:t>
            </a:r>
            <a:endParaRPr lang="en-US" sz="1050" dirty="0"/>
          </a:p>
        </p:txBody>
      </p:sp>
      <p:sp>
        <p:nvSpPr>
          <p:cNvPr id="23" name="Text 18"/>
          <p:cNvSpPr/>
          <p:nvPr/>
        </p:nvSpPr>
        <p:spPr>
          <a:xfrm>
            <a:off x="6501384" y="3383280"/>
            <a:ext cx="222199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Hosts 6–10 school groups a season; wants zero per-visit effort and schools that rebook.</a:t>
            </a:r>
            <a:endParaRPr lang="en-US" sz="1100" dirty="0"/>
          </a:p>
        </p:txBody>
      </p:sp>
      <p:sp>
        <p:nvSpPr>
          <p:cNvPr id="24" name="Text 19"/>
          <p:cNvSpPr/>
          <p:nvPr/>
        </p:nvSpPr>
        <p:spPr>
          <a:xfrm>
            <a:off x="6501384" y="4892040"/>
            <a:ext cx="22219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F8D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“Set up once. The signs are already up.”</a:t>
            </a:r>
            <a:endParaRPr lang="en-US" sz="1050" dirty="0"/>
          </a:p>
        </p:txBody>
      </p:sp>
      <p:sp>
        <p:nvSpPr>
          <p:cNvPr id="25" name="Shape 20"/>
          <p:cNvSpPr/>
          <p:nvPr/>
        </p:nvSpPr>
        <p:spPr>
          <a:xfrm>
            <a:off x="9134856" y="1371600"/>
            <a:ext cx="2679192" cy="4572000"/>
          </a:xfrm>
          <a:prstGeom prst="roundRect">
            <a:avLst>
              <a:gd name="adj" fmla="val 3072"/>
            </a:avLst>
          </a:prstGeom>
          <a:solidFill>
            <a:srgbClr val="162C20"/>
          </a:solidFill>
          <a:ln w="12700">
            <a:solidFill>
              <a:srgbClr val="24402F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10131552" y="1691640"/>
            <a:ext cx="685800" cy="685800"/>
          </a:xfrm>
          <a:prstGeom prst="ellipse">
            <a:avLst/>
          </a:prstGeom>
          <a:solidFill>
            <a:srgbClr val="F5B942"/>
          </a:solidFill>
          <a:ln/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96144" y="1856232"/>
            <a:ext cx="356616" cy="356616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9317736" y="2542032"/>
            <a:ext cx="23134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EF5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Commissioner · City</a:t>
            </a:r>
            <a:endParaRPr lang="en-US" sz="1350" dirty="0"/>
          </a:p>
        </p:txBody>
      </p:sp>
      <p:sp>
        <p:nvSpPr>
          <p:cNvPr id="29" name="Text 23"/>
          <p:cNvSpPr/>
          <p:nvPr/>
        </p:nvSpPr>
        <p:spPr>
          <a:xfrm>
            <a:off x="9317736" y="3017520"/>
            <a:ext cx="2313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50" kern="0" dirty="0">
                <a:solidFill>
                  <a:srgbClr val="F5B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 / funder</a:t>
            </a:r>
            <a:endParaRPr lang="en-US" sz="1050" dirty="0"/>
          </a:p>
        </p:txBody>
      </p:sp>
      <p:sp>
        <p:nvSpPr>
          <p:cNvPr id="30" name="Text 24"/>
          <p:cNvSpPr/>
          <p:nvPr/>
        </p:nvSpPr>
        <p:spPr>
          <a:xfrm>
            <a:off x="9363456" y="3383280"/>
            <a:ext cx="222199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insecurity is rising on his agenda; wants a fundable program with metrics and his name on it.</a:t>
            </a:r>
            <a:endParaRPr lang="en-US" sz="1100" dirty="0"/>
          </a:p>
        </p:txBody>
      </p:sp>
      <p:sp>
        <p:nvSpPr>
          <p:cNvPr id="31" name="Text 25"/>
          <p:cNvSpPr/>
          <p:nvPr/>
        </p:nvSpPr>
        <p:spPr>
          <a:xfrm>
            <a:off x="9363456" y="4892040"/>
            <a:ext cx="22219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F8D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“How can we bring this here?”  (real quote)</a:t>
            </a:r>
            <a:endParaRPr lang="en-US" sz="1050" dirty="0"/>
          </a:p>
        </p:txBody>
      </p:sp>
      <p:sp>
        <p:nvSpPr>
          <p:cNvPr id="32" name="Text 26"/>
          <p:cNvSpPr/>
          <p:nvPr/>
        </p:nvSpPr>
        <p:spPr>
          <a:xfrm>
            <a:off x="548640" y="61722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personas &amp; journeys in PRD.md · student profiles are pseudonymous by design (no PII, ever).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Landscape &amp; Moat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59536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categories each own a piece — nobody owns the seam.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977640" cy="4983480"/>
          </a:xfrm>
          <a:prstGeom prst="roundRect">
            <a:avLst>
              <a:gd name="adj" fmla="val 2069"/>
            </a:avLst>
          </a:prstGeom>
          <a:solidFill>
            <a:srgbClr val="162C20"/>
          </a:solidFill>
          <a:ln w="12700">
            <a:solidFill>
              <a:srgbClr val="24402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53619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4CC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SOLVES IT TODAY — PARTIALLY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822960" y="19202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EF5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Goosechase · Actionbound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2176272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scavenger hunts: location mechanics, no narrative — the teacher still authors everything.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22960" y="281635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EF5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Kahoot! · Nearpod · Gimkit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3072384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 engines schools already buy — but screen-only; nothing leaves the classroom.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22960" y="371246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EF5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 in the Classroom · FFA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3968496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Curriculum credibility, but generic across all farms and paper-based.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22960" y="460857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EF5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Food-bank kits · hunger sims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22960" y="4864608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Emotional one-off events; simulation formats risk poverty tourism.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22960" y="5596128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F8D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incumbent: the guided tour + worksheet — at $0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754880" y="1371600"/>
            <a:ext cx="6903720" cy="2331720"/>
          </a:xfrm>
          <a:prstGeom prst="roundRect">
            <a:avLst>
              <a:gd name="adj" fmla="val 3529"/>
            </a:avLst>
          </a:prstGeom>
          <a:solidFill>
            <a:srgbClr val="162C20"/>
          </a:solidFill>
          <a:ln w="12700">
            <a:solidFill>
              <a:srgbClr val="24402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74920" y="1536192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F5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NOBODY DOES THE WHOLE THING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074920" y="1901952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EF5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Economics just flipped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074920" y="2395728"/>
            <a:ext cx="2011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farm-specific branching story used to cost hundreds in writer time. LLMs made it &lt; $2 — this product was impossible before ~2023.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7223760" y="1901952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EF5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AI-for-minors minefield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7223760" y="2395728"/>
            <a:ext cx="2011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viable design ships LESS AI than possible: pre-generated, moderated, teacher-gated. Most AI-edtech teams won't make that trade.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9372600" y="1901952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EF5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A three-industry seam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9372600" y="2395728"/>
            <a:ext cx="2011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Edtech x agritourism x municipal funding. Stitching them is BD work, not code — so it attracts no software competitors.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754880" y="3886200"/>
            <a:ext cx="6903720" cy="2468880"/>
          </a:xfrm>
          <a:prstGeom prst="roundRect">
            <a:avLst>
              <a:gd name="adj" fmla="val 3333"/>
            </a:avLst>
          </a:prstGeom>
          <a:solidFill>
            <a:srgbClr val="12241A"/>
          </a:solidFill>
          <a:ln w="12700">
            <a:solidFill>
              <a:srgbClr val="24402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74920" y="4041648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4CC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TO COPY ONCE IT WORKS  —  the app is weeks of work; these aren't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074920" y="4407408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8D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Farm network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5074920" y="4626864"/>
            <a:ext cx="3063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signs bolted to real barns; every onboarded farm is a supply node a copycat rebuilds call-by-call.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8321040" y="4407408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8D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artifacts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8321040" y="4626864"/>
            <a:ext cx="3063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District approvals, zero-PII posture, a clean safety record — clonable never, only earned slowly.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074920" y="5157216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8D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 library compounds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074920" y="5376672"/>
            <a:ext cx="3063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teacher review is labeled signal; proven packs drive content cost toward zero.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8321040" y="5157216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8D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Municipal incumbency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8321040" y="5376672"/>
            <a:ext cx="3063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city budget line + a politician's track record — the stickiest position in any market.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074920" y="5943600"/>
            <a:ext cx="6355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6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threat: </a:t>
            </a:r>
            <a:pPr indent="0" marL="0">
              <a:buNone/>
            </a:pPr>
            <a:r>
              <a:rPr lang="en-US" sz="105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Goosechase or Nearpod ships an “AI story mode.”  </a:t>
            </a:r>
            <a:pPr indent="0" marL="0">
              <a:buNone/>
            </a:pPr>
            <a:r>
              <a:rPr lang="en-US" sz="1050" b="1" dirty="0">
                <a:solidFill>
                  <a:srgbClr val="4CC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Defense: </a:t>
            </a:r>
            <a:pPr indent="0" marL="0">
              <a:buNone/>
            </a:pPr>
            <a:r>
              <a:rPr lang="en-US" sz="105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they won't build — farm onboarding, food-insecurity credibility, city funding.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 of Customer — Preliminary Results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59536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real interview synthesized (no-fabrication protocol) · 4 guides ready · backdrop: 14.1M U.S. children food-insecure (USDA 2024).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120640" cy="3291840"/>
          </a:xfrm>
          <a:prstGeom prst="roundRect">
            <a:avLst>
              <a:gd name="adj" fmla="val 2500"/>
            </a:avLst>
          </a:prstGeom>
          <a:solidFill>
            <a:srgbClr val="162C20"/>
          </a:solidFill>
          <a:ln w="12700">
            <a:solidFill>
              <a:srgbClr val="24402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55448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CC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BY SEGMENT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96112" y="1975104"/>
            <a:ext cx="146304" cy="146304"/>
          </a:xfrm>
          <a:prstGeom prst="ellipse">
            <a:avLst/>
          </a:prstGeom>
          <a:solidFill>
            <a:srgbClr val="4CC776"/>
          </a:solidFill>
          <a:ln/>
        </p:spPr>
      </p:sp>
      <p:sp>
        <p:nvSpPr>
          <p:cNvPr id="7" name="Text 5"/>
          <p:cNvSpPr/>
          <p:nvPr/>
        </p:nvSpPr>
        <p:spPr>
          <a:xfrm>
            <a:off x="1170432" y="192024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EF5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Farmers — partially validated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70432" y="2167128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Tours already monetized (~$20/head); school buses come to farms today.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896112" y="2651760"/>
            <a:ext cx="146304" cy="146304"/>
          </a:xfrm>
          <a:prstGeom prst="ellipse">
            <a:avLst/>
          </a:prstGeom>
          <a:solidFill>
            <a:srgbClr val="4CC776"/>
          </a:solidFill>
          <a:ln/>
        </p:spPr>
      </p:sp>
      <p:sp>
        <p:nvSpPr>
          <p:cNvPr id="10" name="Text 8"/>
          <p:cNvSpPr/>
          <p:nvPr/>
        </p:nvSpPr>
        <p:spPr>
          <a:xfrm>
            <a:off x="1170432" y="2596896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EF5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City officials — strong pull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70432" y="2843784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Unprompted demand + a public-land &amp; CDBG funding playbook exists.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96112" y="3328416"/>
            <a:ext cx="146304" cy="146304"/>
          </a:xfrm>
          <a:prstGeom prst="ellipse">
            <a:avLst/>
          </a:prstGeom>
          <a:solidFill>
            <a:srgbClr val="E8604C"/>
          </a:solidFill>
          <a:ln/>
        </p:spPr>
      </p:sp>
      <p:sp>
        <p:nvSpPr>
          <p:cNvPr id="13" name="Text 11"/>
          <p:cNvSpPr/>
          <p:nvPr/>
        </p:nvSpPr>
        <p:spPr>
          <a:xfrm>
            <a:off x="1170432" y="3273552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EF5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Teachers — 0 interviews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70432" y="3520440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buyer. Biggest gap; 4–6 interviews scheduled next (Guide 2).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96112" y="4005072"/>
            <a:ext cx="146304" cy="146304"/>
          </a:xfrm>
          <a:prstGeom prst="ellipse">
            <a:avLst/>
          </a:prstGeom>
          <a:solidFill>
            <a:srgbClr val="E8604C"/>
          </a:solidFill>
          <a:ln/>
        </p:spPr>
      </p:sp>
      <p:sp>
        <p:nvSpPr>
          <p:cNvPr id="16" name="Text 14"/>
          <p:cNvSpPr/>
          <p:nvPr/>
        </p:nvSpPr>
        <p:spPr>
          <a:xfrm>
            <a:off x="1170432" y="3950208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EF5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— pending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170432" y="4197096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Week-1 story-quality test doubles as first student evidence.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4846320"/>
            <a:ext cx="5120640" cy="1417320"/>
          </a:xfrm>
          <a:prstGeom prst="roundRect">
            <a:avLst>
              <a:gd name="adj" fmla="val 5806"/>
            </a:avLst>
          </a:prstGeom>
          <a:solidFill>
            <a:srgbClr val="162C20"/>
          </a:solidFill>
          <a:ln w="12700">
            <a:solidFill>
              <a:srgbClr val="24402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501091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5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NO-FABRICATION PROTOCOL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68680" y="5285232"/>
            <a:ext cx="4526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claim timestamped to the transcript · blank answers stay blank · [not asked] is a valid answer · PRD updates require 2+ independent citations per segment.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943600" y="1371600"/>
            <a:ext cx="5715000" cy="1517904"/>
          </a:xfrm>
          <a:prstGeom prst="roundRect">
            <a:avLst>
              <a:gd name="adj" fmla="val 5422"/>
            </a:avLst>
          </a:prstGeom>
          <a:solidFill>
            <a:srgbClr val="12241A"/>
          </a:solidFill>
          <a:ln w="12700">
            <a:solidFill>
              <a:srgbClr val="24402F"/>
            </a:solidFill>
            <a:prstDash val="solid"/>
          </a:ln>
        </p:spPr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0" y="1572768"/>
            <a:ext cx="310896" cy="310896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6629400" y="1499616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EEF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“Our homeless population is growing, food insecurity is growing. How can we bring it here?”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6629400" y="245059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D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 of Winter Haven commissioner — unprompted (@21:33)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5943600" y="3035808"/>
            <a:ext cx="5715000" cy="1517904"/>
          </a:xfrm>
          <a:prstGeom prst="roundRect">
            <a:avLst>
              <a:gd name="adj" fmla="val 5422"/>
            </a:avLst>
          </a:prstGeom>
          <a:solidFill>
            <a:srgbClr val="12241A"/>
          </a:solidFill>
          <a:ln w="12700">
            <a:solidFill>
              <a:srgbClr val="24402F"/>
            </a:solidFill>
            <a:prstDash val="solid"/>
          </a:ln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3236976"/>
            <a:ext cx="310896" cy="310896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6629400" y="3163824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EEF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love to tell y'all to start tours, because it just makes money.”</a:t>
            </a:r>
            <a:endParaRPr lang="en-US" sz="1250" dirty="0"/>
          </a:p>
        </p:txBody>
      </p:sp>
      <p:sp>
        <p:nvSpPr>
          <p:cNvPr id="28" name="Text 24"/>
          <p:cNvSpPr/>
          <p:nvPr/>
        </p:nvSpPr>
        <p:spPr>
          <a:xfrm>
            <a:off x="6629400" y="41148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D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Kesha Cobb, farm nonprofit operator (@30:34)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5943600" y="4700016"/>
            <a:ext cx="5715000" cy="1517904"/>
          </a:xfrm>
          <a:prstGeom prst="roundRect">
            <a:avLst>
              <a:gd name="adj" fmla="val 5422"/>
            </a:avLst>
          </a:prstGeom>
          <a:solidFill>
            <a:srgbClr val="12241A"/>
          </a:solidFill>
          <a:ln w="12700">
            <a:solidFill>
              <a:srgbClr val="24402F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4901184"/>
            <a:ext cx="310896" cy="310896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6629400" y="4828032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EEF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 school buses — they brought the school bus to my house.”</a:t>
            </a:r>
            <a:endParaRPr lang="en-US" sz="1250" dirty="0"/>
          </a:p>
        </p:txBody>
      </p:sp>
      <p:sp>
        <p:nvSpPr>
          <p:cNvPr id="32" name="Text 27"/>
          <p:cNvSpPr/>
          <p:nvPr/>
        </p:nvSpPr>
        <p:spPr>
          <a:xfrm>
            <a:off x="6629400" y="5779008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D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Kesha Cobb, on school demand for farm visits (@50:07)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Hypothesis &amp; Validation — Preliminary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59536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AI dependency sits behind the state of the art — by design.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4937760" cy="4983480"/>
          </a:xfrm>
          <a:prstGeom prst="roundRect">
            <a:avLst>
              <a:gd name="adj" fmla="val 1667"/>
            </a:avLst>
          </a:prstGeom>
          <a:solidFill>
            <a:srgbClr val="162C20"/>
          </a:solidFill>
          <a:ln w="12700">
            <a:solidFill>
              <a:srgbClr val="24402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5544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CC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CONTENT PIPELINE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96112" y="1938528"/>
            <a:ext cx="475488" cy="475488"/>
          </a:xfrm>
          <a:prstGeom prst="ellipse">
            <a:avLst/>
          </a:prstGeom>
          <a:solidFill>
            <a:srgbClr val="4CC776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0229" y="2052645"/>
            <a:ext cx="247254" cy="24725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36192" y="19202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EF5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drafts the branching pack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1536192" y="217627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gpt-4o-mini · structured outputs · &lt; $2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996696" y="239572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44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896112" y="2834640"/>
            <a:ext cx="475488" cy="475488"/>
          </a:xfrm>
          <a:prstGeom prst="ellipse">
            <a:avLst/>
          </a:prstGeom>
          <a:solidFill>
            <a:srgbClr val="4CC776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229" y="2948757"/>
            <a:ext cx="247254" cy="24725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536192" y="281635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EF5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 &amp; branch validation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1536192" y="307238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path terminates, no orphan chapters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996696" y="329184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44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896112" y="3730752"/>
            <a:ext cx="475488" cy="475488"/>
          </a:xfrm>
          <a:prstGeom prst="ellipse">
            <a:avLst/>
          </a:prstGeom>
          <a:solidFill>
            <a:srgbClr val="4CC776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0229" y="3844869"/>
            <a:ext cx="247254" cy="24725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536192" y="371246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EF5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Moderation API screen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1536192" y="396849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· auto-quarantine + regenerate</a:t>
            </a:r>
            <a:endParaRPr lang="en-US" sz="1050" dirty="0"/>
          </a:p>
        </p:txBody>
      </p:sp>
      <p:sp>
        <p:nvSpPr>
          <p:cNvPr id="20" name="Text 15"/>
          <p:cNvSpPr/>
          <p:nvPr/>
        </p:nvSpPr>
        <p:spPr>
          <a:xfrm>
            <a:off x="996696" y="4187952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44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600" dirty="0"/>
          </a:p>
        </p:txBody>
      </p:sp>
      <p:sp>
        <p:nvSpPr>
          <p:cNvPr id="21" name="Shape 16"/>
          <p:cNvSpPr/>
          <p:nvPr/>
        </p:nvSpPr>
        <p:spPr>
          <a:xfrm>
            <a:off x="896112" y="4626864"/>
            <a:ext cx="475488" cy="475488"/>
          </a:xfrm>
          <a:prstGeom prst="ellipse">
            <a:avLst/>
          </a:prstGeom>
          <a:solidFill>
            <a:srgbClr val="F5B942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0229" y="4740981"/>
            <a:ext cx="247254" cy="247254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536192" y="460857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EF5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Teacher approves every branch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1536192" y="486460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hard invariant — enforced in the data model</a:t>
            </a:r>
            <a:endParaRPr lang="en-US" sz="1050" dirty="0"/>
          </a:p>
        </p:txBody>
      </p:sp>
      <p:sp>
        <p:nvSpPr>
          <p:cNvPr id="25" name="Text 19"/>
          <p:cNvSpPr/>
          <p:nvPr/>
        </p:nvSpPr>
        <p:spPr>
          <a:xfrm>
            <a:off x="996696" y="5084064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44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600" dirty="0"/>
          </a:p>
        </p:txBody>
      </p:sp>
      <p:sp>
        <p:nvSpPr>
          <p:cNvPr id="26" name="Shape 20"/>
          <p:cNvSpPr/>
          <p:nvPr/>
        </p:nvSpPr>
        <p:spPr>
          <a:xfrm>
            <a:off x="896112" y="5522976"/>
            <a:ext cx="475488" cy="475488"/>
          </a:xfrm>
          <a:prstGeom prst="ellipse">
            <a:avLst/>
          </a:prstGeom>
          <a:solidFill>
            <a:srgbClr val="4CC776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0229" y="5637093"/>
            <a:ext cx="247254" cy="247254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536192" y="550468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EF5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play — offline</a:t>
            </a:r>
            <a:endParaRPr lang="en-US" sz="1250" dirty="0"/>
          </a:p>
        </p:txBody>
      </p:sp>
      <p:sp>
        <p:nvSpPr>
          <p:cNvPr id="29" name="Text 22"/>
          <p:cNvSpPr/>
          <p:nvPr/>
        </p:nvSpPr>
        <p:spPr>
          <a:xfrm>
            <a:off x="1536192" y="57607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student → AI path exists, ever</a:t>
            </a:r>
            <a:endParaRPr lang="en-US" sz="1050" dirty="0"/>
          </a:p>
        </p:txBody>
      </p:sp>
      <p:sp>
        <p:nvSpPr>
          <p:cNvPr id="30" name="Shape 23"/>
          <p:cNvSpPr/>
          <p:nvPr/>
        </p:nvSpPr>
        <p:spPr>
          <a:xfrm>
            <a:off x="5806440" y="1371600"/>
            <a:ext cx="5852160" cy="2103120"/>
          </a:xfrm>
          <a:prstGeom prst="roundRect">
            <a:avLst>
              <a:gd name="adj" fmla="val 3913"/>
            </a:avLst>
          </a:prstGeom>
          <a:solidFill>
            <a:srgbClr val="162C20"/>
          </a:solidFill>
          <a:ln w="12700">
            <a:solidFill>
              <a:srgbClr val="24402F"/>
            </a:solidFill>
            <a:prstDash val="solid"/>
          </a:ln>
        </p:spPr>
      </p:sp>
      <p:sp>
        <p:nvSpPr>
          <p:cNvPr id="31" name="Text 24"/>
          <p:cNvSpPr/>
          <p:nvPr/>
        </p:nvSpPr>
        <p:spPr>
          <a:xfrm>
            <a:off x="6126480" y="15544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CC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VALIDATED SO FAR</a:t>
            </a:r>
            <a:endParaRPr lang="en-US" sz="1200" dirty="0"/>
          </a:p>
        </p:txBody>
      </p:sp>
      <p:sp>
        <p:nvSpPr>
          <p:cNvPr id="32" name="Text 25"/>
          <p:cNvSpPr/>
          <p:nvPr/>
        </p:nvSpPr>
        <p:spPr>
          <a:xfrm>
            <a:off x="6172200" y="1874520"/>
            <a:ext cx="5257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EF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MVP generates stories + TTS narration with live OpenAI calls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EF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Outputs make schema-valid branching a solved problem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EF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real-time, nothing student-facing — model risk is contained</a:t>
            </a:r>
            <a:endParaRPr lang="en-US" sz="1200" dirty="0"/>
          </a:p>
        </p:txBody>
      </p:sp>
      <p:sp>
        <p:nvSpPr>
          <p:cNvPr id="33" name="Shape 26"/>
          <p:cNvSpPr/>
          <p:nvPr/>
        </p:nvSpPr>
        <p:spPr>
          <a:xfrm>
            <a:off x="5806440" y="3657600"/>
            <a:ext cx="5852160" cy="2697480"/>
          </a:xfrm>
          <a:prstGeom prst="roundRect">
            <a:avLst>
              <a:gd name="adj" fmla="val 3051"/>
            </a:avLst>
          </a:prstGeom>
          <a:solidFill>
            <a:srgbClr val="12241A"/>
          </a:solidFill>
          <a:ln w="22225">
            <a:solidFill>
              <a:srgbClr val="F5B942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6126480" y="3931920"/>
            <a:ext cx="502920" cy="502920"/>
          </a:xfrm>
          <a:prstGeom prst="ellipse">
            <a:avLst/>
          </a:prstGeom>
          <a:solidFill>
            <a:srgbClr val="F5B942"/>
          </a:solidFill>
          <a:ln/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7181" y="4052621"/>
            <a:ext cx="261518" cy="261518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6812280" y="404164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5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RISKIEST UNPROVEN ASSUMPTION</a:t>
            </a:r>
            <a:endParaRPr lang="en-US" sz="1200" dirty="0"/>
          </a:p>
        </p:txBody>
      </p:sp>
      <p:sp>
        <p:nvSpPr>
          <p:cNvPr id="37" name="Text 29"/>
          <p:cNvSpPr/>
          <p:nvPr/>
        </p:nvSpPr>
        <p:spPr>
          <a:xfrm>
            <a:off x="6172200" y="457200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EEF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$2, mini-model story can be good enough that 12-to-18-year-olds voluntarily finish it.”</a:t>
            </a:r>
            <a:endParaRPr lang="en-US" sz="1450" dirty="0"/>
          </a:p>
        </p:txBody>
      </p:sp>
      <p:sp>
        <p:nvSpPr>
          <p:cNvPr id="38" name="Text 30"/>
          <p:cNvSpPr/>
          <p:nvPr/>
        </p:nvSpPr>
        <p:spPr>
          <a:xfrm>
            <a:off x="6172200" y="544068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failure mode is “mid,” and no validator catches cringe.  Test: 3 real packs → 1 real class, week 1, ~$6 of API calls — before any platform is built.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— 8 Weeks to a Real Trip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59536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Sequenced around evidence, not features. Riskiest test runs first.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639312" cy="1901952"/>
          </a:xfrm>
          <a:prstGeom prst="roundRect">
            <a:avLst>
              <a:gd name="adj" fmla="val 4327"/>
            </a:avLst>
          </a:prstGeom>
          <a:solidFill>
            <a:srgbClr val="162C20"/>
          </a:solidFill>
          <a:ln w="12700">
            <a:solidFill>
              <a:srgbClr val="24402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581912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77240" y="198424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EF5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 quality test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77240" y="233172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real packs → 1 real class. Kill-or-continue signal for $6.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70832" y="1417320"/>
            <a:ext cx="3639312" cy="1901952"/>
          </a:xfrm>
          <a:prstGeom prst="roundRect">
            <a:avLst>
              <a:gd name="adj" fmla="val 4327"/>
            </a:avLst>
          </a:prstGeom>
          <a:solidFill>
            <a:srgbClr val="162C20"/>
          </a:solidFill>
          <a:ln w="12700">
            <a:solidFill>
              <a:srgbClr val="24402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99432" y="1581912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W2–3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599432" y="198424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EF5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Generation + teacher flow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99432" y="233172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scaffold, moderation pipeline, review &amp; approve UI.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193024" y="1417320"/>
            <a:ext cx="3639312" cy="1901952"/>
          </a:xfrm>
          <a:prstGeom prst="roundRect">
            <a:avLst>
              <a:gd name="adj" fmla="val 4327"/>
            </a:avLst>
          </a:prstGeom>
          <a:solidFill>
            <a:srgbClr val="162C20"/>
          </a:solidFill>
          <a:ln w="12700">
            <a:solidFill>
              <a:srgbClr val="24402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21624" y="1581912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W4–5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421624" y="198424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EF5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play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421624" y="233172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codes, QR resolver, choices, offline caching.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502152"/>
            <a:ext cx="3639312" cy="1901952"/>
          </a:xfrm>
          <a:prstGeom prst="roundRect">
            <a:avLst>
              <a:gd name="adj" fmla="val 4327"/>
            </a:avLst>
          </a:prstGeom>
          <a:solidFill>
            <a:srgbClr val="162C20"/>
          </a:solidFill>
          <a:ln w="12700">
            <a:solidFill>
              <a:srgbClr val="24402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3666744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W6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77240" y="4069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EF5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Trip-day kit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77240" y="4416552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Printable QR signs, trip sheet, check-in list, CSV export.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370832" y="3502152"/>
            <a:ext cx="3639312" cy="1901952"/>
          </a:xfrm>
          <a:prstGeom prst="roundRect">
            <a:avLst>
              <a:gd name="adj" fmla="val 4327"/>
            </a:avLst>
          </a:prstGeom>
          <a:solidFill>
            <a:srgbClr val="12241A"/>
          </a:solidFill>
          <a:ln w="12700">
            <a:solidFill>
              <a:srgbClr val="24402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70832" y="3502152"/>
            <a:ext cx="3639312" cy="1901952"/>
          </a:xfrm>
          <a:prstGeom prst="roundRect">
            <a:avLst>
              <a:gd name="adj" fmla="val 4327"/>
            </a:avLst>
          </a:prstGeom>
          <a:ln w="22225">
            <a:solidFill>
              <a:srgbClr val="F5B94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99432" y="3666744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W7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4599432" y="4069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EF5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 TRIP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4599432" y="4416552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class, one farm. Completion funnel measured live.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8193024" y="3502152"/>
            <a:ext cx="3639312" cy="1901952"/>
          </a:xfrm>
          <a:prstGeom prst="roundRect">
            <a:avLst>
              <a:gd name="adj" fmla="val 4327"/>
            </a:avLst>
          </a:prstGeom>
          <a:solidFill>
            <a:srgbClr val="162C20"/>
          </a:solidFill>
          <a:ln w="12700">
            <a:solidFill>
              <a:srgbClr val="24402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421624" y="3666744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W8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8421624" y="4069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EF5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memo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8421624" y="4416552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what broke; debrief interviews; write up results.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8D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for speed: </a:t>
            </a:r>
            <a:pPr indent="0" marL="0">
              <a:buNone/>
            </a:pPr>
            <a:r>
              <a:rPr lang="en-US" sz="125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TTS, dashboards, auth, farm portal, load tests.   </a:t>
            </a:r>
            <a:pPr indent="0" marL="0">
              <a:buNone/>
            </a:pPr>
            <a:r>
              <a:rPr lang="en-US" sz="1250" b="1" dirty="0">
                <a:solidFill>
                  <a:srgbClr val="E86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cut: </a:t>
            </a:r>
            <a:pPr indent="0" marL="0">
              <a:buNone/>
            </a:pPr>
            <a:r>
              <a:rPr lang="en-US" sz="125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moderation + the teacher-approval gate.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548640" y="619963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6-milestone engineering plan (M0–M6) in ARCHITECTURE.md — this 8-week cut ships the pilot's first evidence.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Preliminary Mockups — Built, Not Imagined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59536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are real HTML in the repo today; the story teller calls OpenAI live.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6126480" cy="4919472"/>
          </a:xfrm>
          <a:prstGeom prst="roundRect">
            <a:avLst>
              <a:gd name="adj" fmla="val 1115"/>
            </a:avLst>
          </a:prstGeom>
          <a:solidFill>
            <a:srgbClr val="162C20"/>
          </a:solidFill>
          <a:ln w="12700">
            <a:solidFill>
              <a:srgbClr val="24402F"/>
            </a:solidFill>
            <a:prstDash val="solid"/>
          </a:ln>
        </p:spPr>
      </p:sp>
      <p:pic>
        <p:nvPicPr>
          <p:cNvPr id="5" name="Image 0" descr="crop-land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417320"/>
            <a:ext cx="6035040" cy="48280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6364224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“Night Trail” landing page — chosen from 3 differentiated design explorations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7315200" y="1371600"/>
            <a:ext cx="3967648" cy="4919472"/>
          </a:xfrm>
          <a:prstGeom prst="roundRect">
            <a:avLst>
              <a:gd name="adj" fmla="val 1383"/>
            </a:avLst>
          </a:prstGeom>
          <a:solidFill>
            <a:srgbClr val="162C20"/>
          </a:solidFill>
          <a:ln w="12700">
            <a:solidFill>
              <a:srgbClr val="24402F"/>
            </a:solidFill>
            <a:prstDash val="solid"/>
          </a:ln>
        </p:spPr>
      </p:sp>
      <p:pic>
        <p:nvPicPr>
          <p:cNvPr id="8" name="Image 1" descr="crop-mv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1417320"/>
            <a:ext cx="3876208" cy="482803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949440" y="6364224"/>
            <a:ext cx="4699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MVP — name + farm experience + theme → live story + TTS narration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 to Date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59536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below is committed and pushed to the GitHub repo.</a:t>
            </a:r>
            <a:endParaRPr lang="en-US" sz="13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310896" cy="31089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05840" y="141732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EF5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 v1.0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1005840" y="16916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personas, metrics, MVP scope, 18 corner cases</a:t>
            </a:r>
            <a:endParaRPr lang="en-US" sz="105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463040"/>
            <a:ext cx="310896" cy="31089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663440" y="141732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EF5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design explorations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4663440" y="16916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clearly differentiated; Night Trail selected</a:t>
            </a:r>
            <a:endParaRPr lang="en-US" sz="105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514600"/>
            <a:ext cx="310896" cy="310896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005840" y="24688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EF5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+ plan</a:t>
            </a:r>
            <a:endParaRPr lang="en-US" sz="1350" dirty="0"/>
          </a:p>
        </p:txBody>
      </p:sp>
      <p:sp>
        <p:nvSpPr>
          <p:cNvPr id="12" name="Text 7"/>
          <p:cNvSpPr/>
          <p:nvPr/>
        </p:nvSpPr>
        <p:spPr>
          <a:xfrm>
            <a:off x="1005840" y="27432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local-first monolith, safety gates, 6 milestones</a:t>
            </a:r>
            <a:endParaRPr lang="en-US" sz="105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6240" y="2514600"/>
            <a:ext cx="310896" cy="310896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663440" y="24688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EF5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HTML MVP</a:t>
            </a:r>
            <a:endParaRPr lang="en-US" sz="1350" dirty="0"/>
          </a:p>
        </p:txBody>
      </p:sp>
      <p:sp>
        <p:nvSpPr>
          <p:cNvPr id="15" name="Text 9"/>
          <p:cNvSpPr/>
          <p:nvPr/>
        </p:nvSpPr>
        <p:spPr>
          <a:xfrm>
            <a:off x="4663440" y="27432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OpenAI text + TTS, replay, story shelf</a:t>
            </a:r>
            <a:endParaRPr lang="en-US" sz="1050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566160"/>
            <a:ext cx="310896" cy="310896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005840" y="35204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EF5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Pitch kit × 2</a:t>
            </a:r>
            <a:endParaRPr lang="en-US" sz="1350" dirty="0"/>
          </a:p>
        </p:txBody>
      </p:sp>
      <p:sp>
        <p:nvSpPr>
          <p:cNvPr id="18" name="Text 11"/>
          <p:cNvSpPr/>
          <p:nvPr/>
        </p:nvSpPr>
        <p:spPr>
          <a:xfrm>
            <a:off x="1005840" y="37947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2-min scripts, PM summaries, Discord posts</a:t>
            </a:r>
            <a:endParaRPr lang="en-US" sz="1050" dirty="0"/>
          </a:p>
        </p:txBody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06240" y="3566160"/>
            <a:ext cx="310896" cy="310896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4663440" y="35204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EF5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 system</a:t>
            </a:r>
            <a:endParaRPr lang="en-US" sz="1350" dirty="0"/>
          </a:p>
        </p:txBody>
      </p:sp>
      <p:sp>
        <p:nvSpPr>
          <p:cNvPr id="21" name="Text 13"/>
          <p:cNvSpPr/>
          <p:nvPr/>
        </p:nvSpPr>
        <p:spPr>
          <a:xfrm>
            <a:off x="4663440" y="37947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interview guides + 1 real interview synthesized</a:t>
            </a:r>
            <a:endParaRPr lang="en-US" sz="1050" dirty="0"/>
          </a:p>
        </p:txBody>
      </p:sp>
      <p:sp>
        <p:nvSpPr>
          <p:cNvPr id="22" name="Shape 14"/>
          <p:cNvSpPr/>
          <p:nvPr/>
        </p:nvSpPr>
        <p:spPr>
          <a:xfrm>
            <a:off x="8001000" y="1417320"/>
            <a:ext cx="3657600" cy="3063240"/>
          </a:xfrm>
          <a:prstGeom prst="roundRect">
            <a:avLst>
              <a:gd name="adj" fmla="val 2687"/>
            </a:avLst>
          </a:prstGeom>
          <a:solidFill>
            <a:srgbClr val="12241A"/>
          </a:solidFill>
          <a:ln w="12700">
            <a:solidFill>
              <a:srgbClr val="24402F"/>
            </a:solidFill>
            <a:prstDash val="solid"/>
          </a:ln>
        </p:spPr>
      </p:sp>
      <p:sp>
        <p:nvSpPr>
          <p:cNvPr id="23" name="Text 15"/>
          <p:cNvSpPr/>
          <p:nvPr/>
        </p:nvSpPr>
        <p:spPr>
          <a:xfrm>
            <a:off x="8229600" y="16002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860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SELF-ASSESSED WEAKEST AREAS</a:t>
            </a:r>
            <a:endParaRPr lang="en-US" sz="1100" dirty="0"/>
          </a:p>
        </p:txBody>
      </p:sp>
      <p:sp>
        <p:nvSpPr>
          <p:cNvPr id="24" name="Text 16"/>
          <p:cNvSpPr/>
          <p:nvPr/>
        </p:nvSpPr>
        <p:spPr>
          <a:xfrm>
            <a:off x="8229600" y="1920240"/>
            <a:ext cx="3246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EEF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Core value &amp; willingness to pay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payment evidence; story-quality bet unproven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EEF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Problem &amp; segmentation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buyer (teacher) has 0 interviews on file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F8D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fix for both: week-1 class test + 4–6 teacher interviews (~2 weeks, ~$10).</a:t>
            </a:r>
            <a:endParaRPr lang="en-US" sz="1100" dirty="0"/>
          </a:p>
        </p:txBody>
      </p:sp>
      <p:sp>
        <p:nvSpPr>
          <p:cNvPr id="25" name="Shape 17"/>
          <p:cNvSpPr/>
          <p:nvPr/>
        </p:nvSpPr>
        <p:spPr>
          <a:xfrm>
            <a:off x="548640" y="4709160"/>
            <a:ext cx="11109960" cy="1600200"/>
          </a:xfrm>
          <a:prstGeom prst="roundRect">
            <a:avLst>
              <a:gd name="adj" fmla="val 5143"/>
            </a:avLst>
          </a:prstGeom>
          <a:solidFill>
            <a:srgbClr val="162C20"/>
          </a:solidFill>
          <a:ln w="12700">
            <a:solidFill>
              <a:srgbClr val="24402F"/>
            </a:solidFill>
            <a:prstDash val="solid"/>
          </a:ln>
        </p:spPr>
      </p:sp>
      <p:sp>
        <p:nvSpPr>
          <p:cNvPr id="26" name="Text 18"/>
          <p:cNvSpPr/>
          <p:nvPr/>
        </p:nvSpPr>
        <p:spPr>
          <a:xfrm>
            <a:off x="868680" y="487375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4CC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MODEL SNAPSHOT (hypotheses, anchored to comparables)</a:t>
            </a:r>
            <a:endParaRPr lang="en-US" sz="1150" dirty="0"/>
          </a:p>
        </p:txBody>
      </p:sp>
      <p:sp>
        <p:nvSpPr>
          <p:cNvPr id="27" name="Text 19"/>
          <p:cNvSpPr/>
          <p:nvPr/>
        </p:nvSpPr>
        <p:spPr>
          <a:xfrm>
            <a:off x="868680" y="52120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$199 / class / yr</a:t>
            </a:r>
            <a:endParaRPr lang="en-US" sz="1600" dirty="0"/>
          </a:p>
        </p:txBody>
      </p:sp>
      <p:sp>
        <p:nvSpPr>
          <p:cNvPr id="28" name="Text 20"/>
          <p:cNvSpPr/>
          <p:nvPr/>
        </p:nvSpPr>
        <p:spPr>
          <a:xfrm>
            <a:off x="868680" y="5596128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subscription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(Goosechase / Nearpod anchor)</a:t>
            </a:r>
            <a:endParaRPr lang="en-US" sz="1000" dirty="0"/>
          </a:p>
        </p:txBody>
      </p:sp>
      <p:sp>
        <p:nvSpPr>
          <p:cNvPr id="29" name="Text 21"/>
          <p:cNvSpPr/>
          <p:nvPr/>
        </p:nvSpPr>
        <p:spPr>
          <a:xfrm>
            <a:off x="3566160" y="52120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$5–25k / city / yr</a:t>
            </a:r>
            <a:endParaRPr lang="en-US" sz="1600" dirty="0"/>
          </a:p>
        </p:txBody>
      </p:sp>
      <p:sp>
        <p:nvSpPr>
          <p:cNvPr id="30" name="Text 22"/>
          <p:cNvSpPr/>
          <p:nvPr/>
        </p:nvSpPr>
        <p:spPr>
          <a:xfrm>
            <a:off x="3566160" y="5596128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sponsored programs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(CDBG &amp; food-bank grants)</a:t>
            </a:r>
            <a:endParaRPr lang="en-US" sz="1000" dirty="0"/>
          </a:p>
        </p:txBody>
      </p:sp>
      <p:sp>
        <p:nvSpPr>
          <p:cNvPr id="31" name="Text 23"/>
          <p:cNvSpPr/>
          <p:nvPr/>
        </p:nvSpPr>
        <p:spPr>
          <a:xfrm>
            <a:off x="6263640" y="52120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$300–500 / farm / yr</a:t>
            </a:r>
            <a:endParaRPr lang="en-US" sz="1600" dirty="0"/>
          </a:p>
        </p:txBody>
      </p:sp>
      <p:sp>
        <p:nvSpPr>
          <p:cNvPr id="32" name="Text 24"/>
          <p:cNvSpPr/>
          <p:nvPr/>
        </p:nvSpPr>
        <p:spPr>
          <a:xfrm>
            <a:off x="6263640" y="5596128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— only after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rebooking value is proven</a:t>
            </a:r>
            <a:endParaRPr lang="en-US" sz="1000" dirty="0"/>
          </a:p>
        </p:txBody>
      </p:sp>
      <p:sp>
        <p:nvSpPr>
          <p:cNvPr id="33" name="Text 25"/>
          <p:cNvSpPr/>
          <p:nvPr/>
        </p:nvSpPr>
        <p:spPr>
          <a:xfrm>
            <a:off x="8961120" y="52120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~97% gross margin</a:t>
            </a:r>
            <a:endParaRPr lang="en-US" sz="1600" dirty="0"/>
          </a:p>
        </p:txBody>
      </p:sp>
      <p:sp>
        <p:nvSpPr>
          <p:cNvPr id="34" name="Text 26"/>
          <p:cNvSpPr/>
          <p:nvPr/>
        </p:nvSpPr>
        <p:spPr>
          <a:xfrm>
            <a:off x="8961120" y="5596128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packs cost &lt; $2 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 a whole class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Resources &amp; Skills We're Looking For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59536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 is written — PRD.md + ARCHITECTURE.md are the onboarding docs.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577840" cy="1078992"/>
          </a:xfrm>
          <a:prstGeom prst="roundRect">
            <a:avLst>
              <a:gd name="adj" fmla="val 7627"/>
            </a:avLst>
          </a:prstGeom>
          <a:solidFill>
            <a:srgbClr val="162C20"/>
          </a:solidFill>
          <a:ln w="12700">
            <a:solidFill>
              <a:srgbClr val="2440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691640"/>
            <a:ext cx="530352" cy="530352"/>
          </a:xfrm>
          <a:prstGeom prst="ellipse">
            <a:avLst/>
          </a:prstGeom>
          <a:solidFill>
            <a:srgbClr val="F5B94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4524" y="1818924"/>
            <a:ext cx="275783" cy="27578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156362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EF5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Full-stack TypeScript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508760" y="187452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App Router, SQLite/Drizzle, SSE streaming — one local-first monolith.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2624328"/>
            <a:ext cx="5577840" cy="1078992"/>
          </a:xfrm>
          <a:prstGeom prst="roundRect">
            <a:avLst>
              <a:gd name="adj" fmla="val 7627"/>
            </a:avLst>
          </a:prstGeom>
          <a:solidFill>
            <a:srgbClr val="162C20"/>
          </a:solidFill>
          <a:ln w="12700">
            <a:solidFill>
              <a:srgbClr val="24402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77240" y="2898648"/>
            <a:ext cx="530352" cy="530352"/>
          </a:xfrm>
          <a:prstGeom prst="ellipse">
            <a:avLst/>
          </a:prstGeom>
          <a:solidFill>
            <a:srgbClr val="4CC776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524" y="3025932"/>
            <a:ext cx="275783" cy="27578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508760" y="277063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EF5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Offline-first PWA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1508760" y="30815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Service-worker caching, QR flows, sync — the farm has no Wi-Fi where the cows are.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48640" y="3831336"/>
            <a:ext cx="5577840" cy="1078992"/>
          </a:xfrm>
          <a:prstGeom prst="roundRect">
            <a:avLst>
              <a:gd name="adj" fmla="val 7627"/>
            </a:avLst>
          </a:prstGeom>
          <a:solidFill>
            <a:srgbClr val="162C20"/>
          </a:solidFill>
          <a:ln w="12700">
            <a:solidFill>
              <a:srgbClr val="24402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77240" y="4105656"/>
            <a:ext cx="530352" cy="530352"/>
          </a:xfrm>
          <a:prstGeom prst="ellipse">
            <a:avLst/>
          </a:prstGeom>
          <a:solidFill>
            <a:srgbClr val="F5B942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524" y="4232940"/>
            <a:ext cx="275783" cy="275783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508760" y="397764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EF5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engineering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1508760" y="4288536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scaffolds, structured outputs, moderation pipeline, story-quality evals.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548640" y="5038344"/>
            <a:ext cx="5577840" cy="1078992"/>
          </a:xfrm>
          <a:prstGeom prst="roundRect">
            <a:avLst>
              <a:gd name="adj" fmla="val 7627"/>
            </a:avLst>
          </a:prstGeom>
          <a:solidFill>
            <a:srgbClr val="162C20"/>
          </a:solidFill>
          <a:ln w="12700">
            <a:solidFill>
              <a:srgbClr val="24402F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77240" y="5312664"/>
            <a:ext cx="530352" cy="530352"/>
          </a:xfrm>
          <a:prstGeom prst="ellipse">
            <a:avLst/>
          </a:prstGeom>
          <a:solidFill>
            <a:srgbClr val="4CC776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4524" y="5439948"/>
            <a:ext cx="275783" cy="275783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508760" y="5184648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EF5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&amp; data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1508760" y="5495544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Game-feel mobile UI readable in sunlight; completion-funnel instrumentation.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6400800" y="1417320"/>
            <a:ext cx="5257800" cy="4114800"/>
          </a:xfrm>
          <a:prstGeom prst="roundRect">
            <a:avLst>
              <a:gd name="adj" fmla="val 2000"/>
            </a:avLst>
          </a:prstGeom>
          <a:solidFill>
            <a:srgbClr val="12241A"/>
          </a:solidFill>
          <a:ln w="12700">
            <a:solidFill>
              <a:srgbClr val="24402F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6720840" y="160020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5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EXPECTATIONS FOR THE TECH TEAM</a:t>
            </a:r>
            <a:endParaRPr lang="en-US" sz="1200" dirty="0"/>
          </a:p>
        </p:txBody>
      </p:sp>
      <p:sp>
        <p:nvSpPr>
          <p:cNvPr id="26" name="Text 20"/>
          <p:cNvSpPr/>
          <p:nvPr/>
        </p:nvSpPr>
        <p:spPr>
          <a:xfrm>
            <a:off x="6720840" y="1965960"/>
            <a:ext cx="4709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EEF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a runnable increment every week — the milestone plan (M0–M6) already defines each exit test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EEF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safety invariant is non-negotiable: no unreviewed AI text ever reaches a student — it's enforced in the data model, not by policy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EEF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for a laptop, design for a county — local-first now, clean seams to Postgres/cloud later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EEF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over features: completion rate and generation latency are the two numbers that matter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EEF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discipline: &lt; $50/month total run cost during the pilot</a:t>
            </a:r>
            <a:endParaRPr lang="en-US" sz="1150" dirty="0"/>
          </a:p>
        </p:txBody>
      </p:sp>
      <p:sp>
        <p:nvSpPr>
          <p:cNvPr id="27" name="Shape 21"/>
          <p:cNvSpPr/>
          <p:nvPr/>
        </p:nvSpPr>
        <p:spPr>
          <a:xfrm>
            <a:off x="6400800" y="5715000"/>
            <a:ext cx="5257800" cy="685800"/>
          </a:xfrm>
          <a:prstGeom prst="roundRect">
            <a:avLst>
              <a:gd name="adj" fmla="val 12000"/>
            </a:avLst>
          </a:prstGeom>
          <a:solidFill>
            <a:srgbClr val="F5B942"/>
          </a:solidFill>
          <a:ln/>
        </p:spPr>
      </p:sp>
      <p:sp>
        <p:nvSpPr>
          <p:cNvPr id="28" name="Text 22"/>
          <p:cNvSpPr/>
          <p:nvPr/>
        </p:nvSpPr>
        <p:spPr>
          <a:xfrm>
            <a:off x="6400800" y="5715000"/>
            <a:ext cx="5257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A1D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Join the build — pilot cohort forming for 2026–27</a:t>
            </a:r>
            <a:endParaRPr lang="en-US" sz="1500" dirty="0"/>
          </a:p>
        </p:txBody>
      </p:sp>
      <p:sp>
        <p:nvSpPr>
          <p:cNvPr id="29" name="Text 23"/>
          <p:cNvSpPr/>
          <p:nvPr/>
        </p:nvSpPr>
        <p:spPr>
          <a:xfrm>
            <a:off x="594360" y="6419088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github.com/MoniqueMogul/Test · PRD · architecture · MVP · VOC — all in the repo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2026-08-01T00:17:38Z</dcterms:created>
  <dcterms:modified xsi:type="dcterms:W3CDTF">2026-08-01T00:17:38Z</dcterms:modified>
</cp:coreProperties>
</file>