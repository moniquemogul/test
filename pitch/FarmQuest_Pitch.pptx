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C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28716" y="1051560"/>
            <a:ext cx="731520" cy="73152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4281" y="1227125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96596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40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</a:t>
            </a:r>
            <a:pPr algn="ctr" indent="0" marL="0">
              <a:buNone/>
            </a:pPr>
            <a:r>
              <a:rPr lang="en-US" sz="5600" b="1" spc="400" kern="0" dirty="0">
                <a:solidFill>
                  <a:srgbClr val="4CC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1371600" y="29718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starts in class. It unlocks at the farm.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011680" y="3520440"/>
            <a:ext cx="8165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choose-your-own-adventure learning game for grades 6–12 that turns real farm visits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food-systems literacy — starting with food insecurity.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468880" y="47091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68880" y="4709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Teacher-approved stories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83480" y="47091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student 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06640" y="47091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0" y="4709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at the farm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371600" y="598932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pitch · 2026–27 school year · Monique Mavour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story arc across the classroom, the farm, and 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36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insecurity is taught as a statistic and toured as a walk-through. The one day students spend at a real farm produces neither understanding nor empathy — and teachers can't fix it without building custom materials they have no time to build.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96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C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branching story game: AI-drafted per farm and class, machine-moderated, teacher-approved before any student plays. Chapters unlock via QR codes at real farm stations — the clues live in the physical world.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394960" cy="1261872"/>
          </a:xfrm>
          <a:prstGeom prst="roundRect">
            <a:avLst>
              <a:gd name="adj" fmla="val 6522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709928"/>
            <a:ext cx="502920" cy="502920"/>
          </a:xfrm>
          <a:prstGeom prst="ellipse">
            <a:avLst/>
          </a:prstGeom>
          <a:solidFill>
            <a:srgbClr val="0C1A12"/>
          </a:solidFill>
          <a:ln w="19050">
            <a:solidFill>
              <a:srgbClr val="F5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47218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D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class — the setup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1783080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meet the mystery on Chromebooks; farm chapters quietly cache to their phones.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724912"/>
            <a:ext cx="5394960" cy="1261872"/>
          </a:xfrm>
          <a:prstGeom prst="roundRect">
            <a:avLst>
              <a:gd name="adj" fmla="val 6522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108960"/>
            <a:ext cx="502920" cy="502920"/>
          </a:xfrm>
          <a:prstGeom prst="ellipse">
            <a:avLst/>
          </a:prstGeom>
          <a:solidFill>
            <a:srgbClr val="0C1A12"/>
          </a:solidFill>
          <a:ln w="19050">
            <a:solidFill>
              <a:srgbClr val="F5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28712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D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farm — the expedition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318211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scans at the barn, field &amp; market stand unlock chapters tied to what students stand in front of.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123944"/>
            <a:ext cx="5394960" cy="1261872"/>
          </a:xfrm>
          <a:prstGeom prst="roundRect">
            <a:avLst>
              <a:gd name="adj" fmla="val 6522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507992"/>
            <a:ext cx="502920" cy="502920"/>
          </a:xfrm>
          <a:prstGeom prst="ellipse">
            <a:avLst/>
          </a:prstGeom>
          <a:solidFill>
            <a:srgbClr val="0C1A12"/>
          </a:solidFill>
          <a:ln w="19050">
            <a:solidFill>
              <a:srgbClr val="F5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27024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D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in class — the finale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78040" y="4581144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group's ending reflects its choices; a reflection chapter ties it to the curriculum.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172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172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$2 per story pack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154680" y="6172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6172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$50 / month pilot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760720" y="6172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6172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2–4 · one phone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732520" y="61722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6172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&amp; nature centers next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Personas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sides of the same trip — the teacher adopts, the city may pay.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79192" cy="4572000"/>
          </a:xfrm>
          <a:prstGeom prst="roundRect">
            <a:avLst>
              <a:gd name="adj" fmla="val 3072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5336" y="1691640"/>
            <a:ext cx="685800" cy="685800"/>
          </a:xfrm>
          <a:prstGeom prst="ellipse">
            <a:avLst/>
          </a:prstGeom>
          <a:solidFill>
            <a:srgbClr val="4CC7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18562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4203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· Student, gr. 7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4CC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2221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her own phone; groans at anything babyish; loves games with choices and secrets.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89204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group's ending was different from yours.”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371600"/>
            <a:ext cx="2679192" cy="4572000"/>
          </a:xfrm>
          <a:prstGeom prst="roundRect">
            <a:avLst>
              <a:gd name="adj" fmla="val 3072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7408" y="1691640"/>
            <a:ext cx="685800" cy="6858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5623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93592" y="254203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Alvarez · Teacher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93592" y="30175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/ adopter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639312" y="3383280"/>
            <a:ext cx="2221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Time-poor agriscience teacher; needs vetted, standards-relevant material in under 45 minutes of prep.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39312" y="489204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read every branch before my students see a word.”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72784" y="1371600"/>
            <a:ext cx="2679192" cy="4572000"/>
          </a:xfrm>
          <a:prstGeom prst="roundRect">
            <a:avLst>
              <a:gd name="adj" fmla="val 3072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69480" y="1691640"/>
            <a:ext cx="685800" cy="685800"/>
          </a:xfrm>
          <a:prstGeom prst="ellipse">
            <a:avLst/>
          </a:prstGeom>
          <a:solidFill>
            <a:srgbClr val="4CC77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85623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5664" y="254203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Denise · Farm owner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55664" y="30175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4CC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501384" y="3383280"/>
            <a:ext cx="2221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6–10 school groups a season; wants zero per-visit effort and schools that rebook.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501384" y="489204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 up once. The signs are already up.”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134856" y="1371600"/>
            <a:ext cx="2679192" cy="4572000"/>
          </a:xfrm>
          <a:prstGeom prst="roundRect">
            <a:avLst>
              <a:gd name="adj" fmla="val 3072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131552" y="1691640"/>
            <a:ext cx="685800" cy="6858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1856232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17736" y="254203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Commissioner · City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9317736" y="30175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/ funder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9363456" y="3383280"/>
            <a:ext cx="22219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insecurity is rising on his agenda; wants a fundable program with metrics and his name on it.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63456" y="4892040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we bring this here?”  (real quote)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personas &amp; journeys in PRD.md · student profiles are pseudonymous by design (no PII, ever).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of Customer — Preliminary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real interview transcribed &amp; synthesized (no-fabrication protocol) · 4 interview guides ready.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3291840"/>
          </a:xfrm>
          <a:prstGeom prst="roundRect">
            <a:avLst>
              <a:gd name="adj" fmla="val 2500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C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BY SEGMENT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6112" y="1975104"/>
            <a:ext cx="146304" cy="146304"/>
          </a:xfrm>
          <a:prstGeom prst="ellipse">
            <a:avLst/>
          </a:prstGeom>
          <a:solidFill>
            <a:srgbClr val="4CC776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1920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— partially validated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2167128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 already monetized (~$20/head); school buses come to farms today.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96112" y="2651760"/>
            <a:ext cx="146304" cy="146304"/>
          </a:xfrm>
          <a:prstGeom prst="ellipse">
            <a:avLst/>
          </a:prstGeom>
          <a:solidFill>
            <a:srgbClr val="4CC776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25968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officials — strong pull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843784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Unprompted demand + a public-land &amp; CDBG funding playbook exists.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" y="3328416"/>
            <a:ext cx="146304" cy="146304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2735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— 0 interviews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35204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buyer. Biggest gap; 4–6 interviews scheduled next (Guide 2).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4005072"/>
            <a:ext cx="146304" cy="146304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39502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— pending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419709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Week-1 story-quality test doubles as first student evidence.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010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NO-FABRICATION PROTOCOL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285232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timestamped to the transcript · blank answers stay blank · [not asked] is a valid answer · PRD updates require 2+ independent citations per segment.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371600"/>
            <a:ext cx="5715000" cy="1517904"/>
          </a:xfrm>
          <a:prstGeom prst="roundRect">
            <a:avLst>
              <a:gd name="adj" fmla="val 5422"/>
            </a:avLst>
          </a:prstGeom>
          <a:solidFill>
            <a:srgbClr val="12241A"/>
          </a:solidFill>
          <a:ln w="12700">
            <a:solidFill>
              <a:srgbClr val="24402F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572768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629400" y="149961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homeless population is growing, food insecurity is growing. How can we bring it here?”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629400" y="24505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Winter Haven commissioner — unprompted (@21:33)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43600" y="3035808"/>
            <a:ext cx="5715000" cy="1517904"/>
          </a:xfrm>
          <a:prstGeom prst="roundRect">
            <a:avLst>
              <a:gd name="adj" fmla="val 5422"/>
            </a:avLst>
          </a:prstGeom>
          <a:solidFill>
            <a:srgbClr val="12241A"/>
          </a:solidFill>
          <a:ln w="12700">
            <a:solidFill>
              <a:srgbClr val="24402F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236976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29400" y="316382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love to tell y'all to start tours, because it just makes money.”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 Cobb, farm nonprofit operator (@30:34)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943600" y="4700016"/>
            <a:ext cx="5715000" cy="1517904"/>
          </a:xfrm>
          <a:prstGeom prst="roundRect">
            <a:avLst>
              <a:gd name="adj" fmla="val 5422"/>
            </a:avLst>
          </a:prstGeom>
          <a:solidFill>
            <a:srgbClr val="12241A"/>
          </a:solidFill>
          <a:ln w="12700">
            <a:solidFill>
              <a:srgbClr val="24402F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901184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29400" y="48280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school buses — they brought the school bus to my house.”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629400" y="57790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 Cobb, on school demand for farm visits (@50:07)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Hypothesis &amp; Validation — Preliminary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dependency sits behind the state of the art — by design.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937760" cy="4983480"/>
          </a:xfrm>
          <a:prstGeom prst="roundRect">
            <a:avLst>
              <a:gd name="adj" fmla="val 166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C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6112" y="1938528"/>
            <a:ext cx="475488" cy="475488"/>
          </a:xfrm>
          <a:prstGeom prst="ellipse">
            <a:avLst/>
          </a:prstGeom>
          <a:solidFill>
            <a:srgbClr val="4CC77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29" y="2052645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the branching pack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536192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structured outputs · &lt; $2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96696" y="23957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96112" y="2834640"/>
            <a:ext cx="475488" cy="475488"/>
          </a:xfrm>
          <a:prstGeom prst="ellipse">
            <a:avLst/>
          </a:prstGeom>
          <a:solidFill>
            <a:srgbClr val="4CC77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29" y="2948757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36192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&amp; branch validation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536192" y="3072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terminates, no orphan chapters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96696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96112" y="3730752"/>
            <a:ext cx="475488" cy="475488"/>
          </a:xfrm>
          <a:prstGeom prst="ellipse">
            <a:avLst/>
          </a:prstGeom>
          <a:solidFill>
            <a:srgbClr val="4CC77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29" y="3844869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3712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 API screen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536192" y="3968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auto-quarantine + regenerate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96696" y="41879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96112" y="4626864"/>
            <a:ext cx="475488" cy="475488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29" y="4740981"/>
            <a:ext cx="247254" cy="2472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36192" y="4608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approves every branch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536192" y="4864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invariant — enforced in the data model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996696" y="50840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896112" y="5522976"/>
            <a:ext cx="475488" cy="475488"/>
          </a:xfrm>
          <a:prstGeom prst="ellipse">
            <a:avLst/>
          </a:prstGeom>
          <a:solidFill>
            <a:srgbClr val="4CC77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229" y="5637093"/>
            <a:ext cx="247254" cy="24725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36192" y="5504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play — offline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536192" y="5760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→ AI path exists, ever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806440" y="1371600"/>
            <a:ext cx="5852160" cy="2103120"/>
          </a:xfrm>
          <a:prstGeom prst="roundRect">
            <a:avLst>
              <a:gd name="adj" fmla="val 3913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126480" y="1554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C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SO FAR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172200" y="1874520"/>
            <a:ext cx="5257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generates stories + TTS narration with live OpenAI calls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make schema-valid branching a solved problem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real-time, nothing student-facing — model risk is contained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806440" y="3657600"/>
            <a:ext cx="5852160" cy="2697480"/>
          </a:xfrm>
          <a:prstGeom prst="roundRect">
            <a:avLst>
              <a:gd name="adj" fmla="val 3051"/>
            </a:avLst>
          </a:prstGeom>
          <a:solidFill>
            <a:srgbClr val="12241A"/>
          </a:solidFill>
          <a:ln w="22225">
            <a:solidFill>
              <a:srgbClr val="F5B94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126480" y="3931920"/>
            <a:ext cx="502920" cy="50292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181" y="4052621"/>
            <a:ext cx="261518" cy="26151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12280" y="4041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RISKIEST UNPROVEN ASSUMPTION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172200" y="45720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$2, mini-model story can be good enough that 12-to-18-year-olds voluntarily finish it.”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6172200" y="54406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 is “mid,” and no validator catches cringe.  Test: 3 real packs → 1 real class, week 1, ~$6 of API calls — before any platform is built.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8 Weeks to a Real Trip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around evidence, not features. Riskiest test runs first.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39312" cy="1901952"/>
          </a:xfrm>
          <a:prstGeom prst="roundRect">
            <a:avLst>
              <a:gd name="adj" fmla="val 43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quality test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packs → 1 real class. Kill-or-continue signal for $6.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639312" cy="1901952"/>
          </a:xfrm>
          <a:prstGeom prst="roundRect">
            <a:avLst>
              <a:gd name="adj" fmla="val 43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581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W2–3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99432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+ teacher flow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99432" y="2331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scaffold, moderation pipeline, review &amp; approve UI.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1417320"/>
            <a:ext cx="3639312" cy="1901952"/>
          </a:xfrm>
          <a:prstGeom prst="roundRect">
            <a:avLst>
              <a:gd name="adj" fmla="val 43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21624" y="15819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W4–5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21624" y="1984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play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21624" y="2331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codes, QR resolver, choices, offline caching.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3639312" cy="1901952"/>
          </a:xfrm>
          <a:prstGeom prst="roundRect">
            <a:avLst>
              <a:gd name="adj" fmla="val 43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66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Trip-day kit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4165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QR signs, trip sheet, check-in list, CSV export.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0832" y="3502152"/>
            <a:ext cx="3639312" cy="1901952"/>
          </a:xfrm>
          <a:prstGeom prst="roundRect">
            <a:avLst>
              <a:gd name="adj" fmla="val 4327"/>
            </a:avLst>
          </a:prstGeom>
          <a:solidFill>
            <a:srgbClr val="12241A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0832" y="3502152"/>
            <a:ext cx="3639312" cy="1901952"/>
          </a:xfrm>
          <a:prstGeom prst="roundRect">
            <a:avLst>
              <a:gd name="adj" fmla="val 4327"/>
            </a:avLst>
          </a:prstGeom>
          <a:ln w="22225">
            <a:solidFill>
              <a:srgbClr val="F5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666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99432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TRIP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99432" y="44165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class, one farm. Completion funnel measured live.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93024" y="3502152"/>
            <a:ext cx="3639312" cy="1901952"/>
          </a:xfrm>
          <a:prstGeom prst="roundRect">
            <a:avLst>
              <a:gd name="adj" fmla="val 43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21624" y="3666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21624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memo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21624" y="44165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broke; debrief interviews; write up results.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for speed: </a:t>
            </a:r>
            <a:pPr indent="0" marL="0">
              <a:buNone/>
            </a:pPr>
            <a:r>
              <a:rPr lang="en-US" sz="12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TTS, dashboards, auth, farm portal, load tests.   </a:t>
            </a:r>
            <a:pPr indent="0" marL="0">
              <a:buNone/>
            </a:pPr>
            <a:r>
              <a:rPr lang="en-US" sz="12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cut: </a:t>
            </a:r>
            <a:pPr indent="0" marL="0">
              <a:buNone/>
            </a:pPr>
            <a:r>
              <a:rPr lang="en-US" sz="12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+ the teacher-approval gate.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6-milestone engineering plan (M0–M6) in ARCHITECTURE.md — this 8-week cut ships the pilot's first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Mockups — Built, Not Imagined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real HTML in the repo today; the story teller calls OpenAI live.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126480" cy="4919472"/>
          </a:xfrm>
          <a:prstGeom prst="roundRect">
            <a:avLst>
              <a:gd name="adj" fmla="val 1115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pic>
        <p:nvPicPr>
          <p:cNvPr id="5" name="Image 0" descr="crop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6035040" cy="4828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64224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“Night Trail” landing page — chosen from 3 differentiated design explorations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0" y="1371600"/>
            <a:ext cx="3967648" cy="4919472"/>
          </a:xfrm>
          <a:prstGeom prst="roundRect">
            <a:avLst>
              <a:gd name="adj" fmla="val 1383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pic>
        <p:nvPicPr>
          <p:cNvPr id="8" name="Image 1" descr="crop-mv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17320"/>
            <a:ext cx="3876208" cy="4828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0" y="6364224"/>
            <a:ext cx="4699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 — name + farm experience + theme → live story + TTS narration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to Date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committed and pushed to the GitHub repo.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417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v1.0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metrics, MVP scope, 18 corner cases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14173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design explorations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344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differentiated; Night Trail selected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468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+ plan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058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monolith, safety gates, 6 milestones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514600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3440" y="2468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HTML MVP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34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OpenAI text + TTS, replay, story shelf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66160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kit × 2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0058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scripts, PM summaries, Discord posts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566160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63440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system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66344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interview guides + 1 real interview synthesized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8001000" y="1417320"/>
            <a:ext cx="3657600" cy="3063240"/>
          </a:xfrm>
          <a:prstGeom prst="roundRect">
            <a:avLst>
              <a:gd name="adj" fmla="val 2687"/>
            </a:avLst>
          </a:prstGeom>
          <a:solidFill>
            <a:srgbClr val="12241A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82296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SELF-ASSESSED WEAKEST AREAS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8229600" y="192024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Core value &amp; willingness to pay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payment evidence; story-quality bet unproven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&amp; segmentation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(teacher) has 0 interviews on file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8D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 for both: week-1 class test + 4–6 teacher interviews (~2 weeks, ~$10).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48640" y="4709160"/>
            <a:ext cx="11109960" cy="1600200"/>
          </a:xfrm>
          <a:prstGeom prst="roundRect">
            <a:avLst>
              <a:gd name="adj" fmla="val 5143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68680" y="48737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CC7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SNAPSHOT (hypotheses, anchored to comparables)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86868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$199 / class / yr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68680" y="5596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subscription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(Goosechase / Nearpod anchor)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356616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$5–25k / city / yr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3566160" y="5596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programs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(CDBG &amp; food-bank grants)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26364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$300–500 / farm / yr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6263640" y="5596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— only after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 value is proven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8961120" y="5212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~97% gross margin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961120" y="55961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cost &lt; $2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whole class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Resources &amp; Skills We're Looking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is written — PRD.md + ARCHITECTURE.md are the onboarding docs.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77840" cy="1078992"/>
          </a:xfrm>
          <a:prstGeom prst="roundRect">
            <a:avLst>
              <a:gd name="adj" fmla="val 76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524" y="181892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636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TypeScript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874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Router, SQLite/Drizzle, SSE streaming — one local-first monolith.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24328"/>
            <a:ext cx="5577840" cy="1078992"/>
          </a:xfrm>
          <a:prstGeom prst="roundRect">
            <a:avLst>
              <a:gd name="adj" fmla="val 76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898648"/>
            <a:ext cx="530352" cy="530352"/>
          </a:xfrm>
          <a:prstGeom prst="ellipse">
            <a:avLst/>
          </a:prstGeom>
          <a:solidFill>
            <a:srgbClr val="4CC77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24" y="3025932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7706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PWA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30815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Service-worker caching, QR flows, sync — the farm has no Wi-Fi where the cows are.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5577840" cy="1078992"/>
          </a:xfrm>
          <a:prstGeom prst="roundRect">
            <a:avLst>
              <a:gd name="adj" fmla="val 76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05656"/>
            <a:ext cx="530352" cy="530352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4232940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77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2885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scaffolds, structured outputs, moderation pipeline, story-quality evals.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038344"/>
            <a:ext cx="5577840" cy="1078992"/>
          </a:xfrm>
          <a:prstGeom prst="roundRect">
            <a:avLst>
              <a:gd name="adj" fmla="val 7627"/>
            </a:avLst>
          </a:prstGeom>
          <a:solidFill>
            <a:srgbClr val="162C20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312664"/>
            <a:ext cx="530352" cy="530352"/>
          </a:xfrm>
          <a:prstGeom prst="ellipse">
            <a:avLst/>
          </a:prstGeom>
          <a:solidFill>
            <a:srgbClr val="4CC77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524" y="5439948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1846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data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08760" y="54955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Game-feel mobile UI readable in sunlight; completion-funnel instrumentation.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0" y="1417320"/>
            <a:ext cx="5257800" cy="4114800"/>
          </a:xfrm>
          <a:prstGeom prst="roundRect">
            <a:avLst>
              <a:gd name="adj" fmla="val 2000"/>
            </a:avLst>
          </a:prstGeom>
          <a:solidFill>
            <a:srgbClr val="12241A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720840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EXPECTATIONS FOR THE TECH TEAM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720840" y="196596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runnable increment every week — the milestone plan (M0–M6) already defines each exit test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invariant is non-negotiable: no unreviewed AI text ever reaches a student — it's enforced in the data model, not by policy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a laptop, design for a county — local-first now, clean seams to Postgres/cloud later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over features: completion rate and generation latency are the two numbers that matter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E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discipline: &lt; $50/month total run cost during the pilot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400800" y="5715000"/>
            <a:ext cx="5257800" cy="685800"/>
          </a:xfrm>
          <a:prstGeom prst="roundRect">
            <a:avLst>
              <a:gd name="adj" fmla="val 12000"/>
            </a:avLst>
          </a:prstGeom>
          <a:solidFill>
            <a:srgbClr val="F5B942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0" y="57150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build — pilot cohort forming for 2026–27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94360" y="64190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github.com/MoniqueMogul/Test · PRD · architecture · MVP · VOC — all in the repo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2026-07-31T01:09:13Z</dcterms:created>
  <dcterms:modified xsi:type="dcterms:W3CDTF">2026-07-31T01:09:13Z</dcterms:modified>
</cp:coreProperties>
</file>